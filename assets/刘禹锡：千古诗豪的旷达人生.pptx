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Noto Serif SC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88740"/>
            <a:ext cx="5715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903065"/>
            <a:ext cx="60960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A5BABA"/>
                </a:solidFill>
                <a:latin typeface="Noto Serif SC"/>
              </a:rPr>
              <a:t>中唐杰出诗人与哲学家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60265"/>
            <a:ext cx="5220652" cy="219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Noto Serif SC"/>
              </a:rPr>
              <a:t>刘禹锡：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Noto Serif SC"/>
              </a:rPr>
              <a:t> 千古诗豪的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Noto Serif SC"/>
              </a:rPr>
              <a:t> 旷达人生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011935"/>
            <a:ext cx="6096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A8B8C"/>
                </a:solidFill>
                <a:latin typeface="Noto Serif SC"/>
              </a:rPr>
              <a:t>唐代文学的瑰宝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3098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3385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43672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50339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400" y="1214437"/>
            <a:ext cx="59436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73738"/>
                </a:solidFill>
                <a:latin typeface="Noto Serif SC"/>
              </a:rPr>
              <a:t>生平概览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2195512"/>
            <a:ext cx="493395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73738"/>
                </a:solidFill>
                <a:latin typeface="Noto Serif SC"/>
              </a:rPr>
              <a:t>字梦得 (772-842)：</a:t>
            </a:r>
            <a:r>
              <a:rPr sz="2100" b="0" i="0" u="none">
                <a:solidFill>
                  <a:srgbClr val="273738"/>
                </a:solidFill>
                <a:latin typeface="Noto Serif SC"/>
              </a:rPr>
              <a:t>彭城出身，洛阳长居。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224212"/>
            <a:ext cx="513641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273738"/>
                </a:solidFill>
                <a:latin typeface="Noto Serif SC"/>
              </a:rPr>
              <a:t>贞元及第：</a:t>
            </a:r>
            <a:r>
              <a:rPr sz="2100" b="0" i="0" u="none" dirty="0" err="1">
                <a:solidFill>
                  <a:srgbClr val="273738"/>
                </a:solidFill>
                <a:latin typeface="Noto Serif SC"/>
              </a:rPr>
              <a:t>与柳宗元同榜，登博学宏词科</a:t>
            </a:r>
            <a:r>
              <a:rPr sz="2100" b="0" i="0" u="none" dirty="0">
                <a:solidFill>
                  <a:srgbClr val="273738"/>
                </a:solidFill>
                <a:latin typeface="Noto Serif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4252912"/>
            <a:ext cx="53340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73738"/>
                </a:solidFill>
                <a:latin typeface="Noto Serif SC"/>
              </a:rPr>
              <a:t>永贞革新：</a:t>
            </a:r>
            <a:r>
              <a:rPr sz="2100" b="0" i="0" u="none">
                <a:solidFill>
                  <a:srgbClr val="273738"/>
                </a:solidFill>
                <a:latin typeface="Noto Serif SC"/>
              </a:rPr>
              <a:t>任监察御史，核心骨干。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4919662"/>
            <a:ext cx="493395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73738"/>
                </a:solidFill>
                <a:latin typeface="Noto Serif SC"/>
              </a:rPr>
              <a:t>宦海沉浮：</a:t>
            </a:r>
            <a:r>
              <a:rPr sz="2100" b="0" i="0" u="none">
                <a:solidFill>
                  <a:srgbClr val="273738"/>
                </a:solidFill>
                <a:latin typeface="Noto Serif SC"/>
              </a:rPr>
              <a:t>“二王八司马”事件，贬谪二十三年。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513808"/>
            <a:ext cx="7620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0" y="1801266"/>
            <a:ext cx="355699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20628" y="2563266"/>
            <a:ext cx="5950743" cy="1493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sz="4200" b="1" i="0" u="none">
                <a:solidFill>
                  <a:srgbClr val="273738"/>
                </a:solidFill>
                <a:latin typeface="Noto Serif SC"/>
              </a:rPr>
              <a:t>“沉舟侧畔千帆过，</a:t>
            </a:r>
            <a:r>
              <a:t>
</a:t>
            </a:r>
            <a:r>
              <a:rPr sz="4200" b="1" i="0" u="none">
                <a:solidFill>
                  <a:srgbClr val="273738"/>
                </a:solidFill>
                <a:latin typeface="Noto Serif SC"/>
              </a:rPr>
              <a:t> 病树前头万木春。”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0125" y="4751933"/>
            <a:ext cx="2571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豁达乐观的生命韧性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81000" y="762000"/>
            <a:ext cx="12954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273738"/>
                </a:solidFill>
                <a:latin typeface="Noto Serif SC"/>
              </a:rPr>
              <a:t>政治风雨：永贞革新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6760" y="2352675"/>
            <a:ext cx="8778478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87500" y="20478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737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91051" y="20478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5A8B8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94601" y="20478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7373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4625" y="20478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Noto Serif SC"/>
              </a:rPr>
              <a:t>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5100" y="2886075"/>
            <a:ext cx="12601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参与革新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738" y="3343275"/>
            <a:ext cx="2143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748C8C"/>
                </a:solidFill>
                <a:latin typeface="Noto Serif SC"/>
              </a:rPr>
              <a:t>王叔文集团核心成员。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8176" y="20478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Noto Serif SC"/>
              </a:rPr>
              <a:t>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651" y="2886075"/>
            <a:ext cx="12601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百日维新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5226" y="334327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748C8C"/>
                </a:solidFill>
                <a:latin typeface="Noto Serif SC"/>
              </a:rPr>
              <a:t>废除宫市，打击宦官特权。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1726" y="204787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Noto Serif SC"/>
              </a:rPr>
              <a:t>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2201" y="2886075"/>
            <a:ext cx="12601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失败贬谪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8776" y="3343275"/>
            <a:ext cx="2381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748C8C"/>
                </a:solidFill>
                <a:latin typeface="Noto Serif SC"/>
              </a:rPr>
              <a:t>“二王八司马”，远贬朗州连州。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8925"/>
            <a:ext cx="3454449" cy="2333625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28925"/>
            <a:ext cx="3454449" cy="2333625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28925"/>
            <a:ext cx="3454449" cy="2333625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153025"/>
            <a:ext cx="3454449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828925"/>
            <a:ext cx="3454449" cy="2857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54524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8849" y="5153025"/>
            <a:ext cx="3454449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8849" y="2828925"/>
            <a:ext cx="3454449" cy="28575"/>
          </a:xfrm>
          <a:prstGeom prst="rect">
            <a:avLst/>
          </a:prstGeom>
          <a:solidFill>
            <a:srgbClr val="273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8849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3774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28099" y="5153025"/>
            <a:ext cx="3454449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8099" y="2828925"/>
            <a:ext cx="3454449" cy="28575"/>
          </a:xfrm>
          <a:prstGeom prst="rect">
            <a:avLst/>
          </a:prstGeom>
          <a:solidFill>
            <a:srgbClr val="74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8099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3023" y="2828925"/>
            <a:ext cx="9525" cy="23336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17" y="3314700"/>
            <a:ext cx="296465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767" y="3314700"/>
            <a:ext cx="296465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016" y="3314700"/>
            <a:ext cx="296465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-381000" y="762000"/>
            <a:ext cx="12954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273738"/>
                </a:solidFill>
                <a:latin typeface="Noto Serif SC"/>
              </a:rPr>
              <a:t>文学成就与体裁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93" y="3924300"/>
            <a:ext cx="370886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73738"/>
                </a:solidFill>
                <a:latin typeface="Noto Serif SC"/>
              </a:rPr>
              <a:t>咏史怀古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700" y="4438650"/>
            <a:ext cx="353224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48C8C"/>
                </a:solidFill>
                <a:latin typeface="Noto Serif SC"/>
              </a:rPr>
              <a:t>《乌衣巷》千古绝唱。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1643" y="3924300"/>
            <a:ext cx="370886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73738"/>
                </a:solidFill>
                <a:latin typeface="Noto Serif SC"/>
              </a:rPr>
              <a:t>政治讽刺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9949" y="4438650"/>
            <a:ext cx="353224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48C8C"/>
                </a:solidFill>
                <a:latin typeface="Noto Serif SC"/>
              </a:rPr>
              <a:t>《游玄都观》直言不讳。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893" y="3924300"/>
            <a:ext cx="370886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73738"/>
                </a:solidFill>
                <a:latin typeface="Noto Serif SC"/>
              </a:rPr>
              <a:t>民歌体裁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9199" y="4438650"/>
            <a:ext cx="353224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48C8C"/>
                </a:solidFill>
                <a:latin typeface="Noto Serif SC"/>
              </a:rPr>
              <a:t>《竹枝词》开创先河。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3729037"/>
            <a:ext cx="457200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2090737"/>
            <a:ext cx="53340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73738"/>
                </a:solidFill>
                <a:latin typeface="Noto Serif SC"/>
              </a:rPr>
              <a:t>名篇绝唱：《陋室铭》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005137"/>
            <a:ext cx="5334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5A8B8C"/>
                </a:solidFill>
                <a:latin typeface="Noto Serif SC"/>
              </a:rPr>
              <a:t>“斯是陋室，惟吾德馨。”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043362"/>
            <a:ext cx="5334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3738"/>
                </a:solidFill>
                <a:latin typeface="Noto Serif SC"/>
              </a:rPr>
              <a:t>安贫乐道：</a:t>
            </a:r>
            <a:r>
              <a:rPr sz="1650" b="0" i="0" u="none">
                <a:solidFill>
                  <a:srgbClr val="273738"/>
                </a:solidFill>
                <a:latin typeface="Noto Serif SC"/>
              </a:rPr>
              <a:t>超脱物外的精神境界。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481512"/>
            <a:ext cx="5334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3738"/>
                </a:solidFill>
                <a:latin typeface="Noto Serif SC"/>
              </a:rPr>
              <a:t>高洁傲岸：</a:t>
            </a:r>
            <a:r>
              <a:rPr sz="1650" b="0" i="0" u="none">
                <a:solidFill>
                  <a:srgbClr val="273738"/>
                </a:solidFill>
                <a:latin typeface="Noto Serif SC"/>
              </a:rPr>
              <a:t>不与世俗同流合污的文人风骨。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946177"/>
            <a:ext cx="457200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873597"/>
            <a:ext cx="68008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73738"/>
                </a:solidFill>
                <a:latin typeface="Noto Serif SC"/>
              </a:rPr>
              <a:t>咏秋绝唱：《秋词》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87997"/>
            <a:ext cx="52768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400" b="1" i="0" u="none">
                <a:solidFill>
                  <a:srgbClr val="5A8B8C"/>
                </a:solidFill>
                <a:latin typeface="Noto Serif SC"/>
              </a:rPr>
              <a:t>“晴空一鹤排云上，</a:t>
            </a:r>
            <a:r>
              <a:t>
</a:t>
            </a:r>
            <a:r>
              <a:rPr sz="2400" b="1" i="0" u="none">
                <a:solidFill>
                  <a:srgbClr val="5A8B8C"/>
                </a:solidFill>
                <a:latin typeface="Noto Serif SC"/>
              </a:rPr>
              <a:t> 便引诗情到碧霄。”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60502"/>
            <a:ext cx="6477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3738"/>
                </a:solidFill>
                <a:latin typeface="Noto Serif SC"/>
              </a:rPr>
              <a:t>打破陈规：</a:t>
            </a:r>
            <a:r>
              <a:rPr sz="1650" b="0" i="0" u="none">
                <a:solidFill>
                  <a:srgbClr val="273738"/>
                </a:solidFill>
                <a:latin typeface="Noto Serif SC"/>
              </a:rPr>
              <a:t>颠覆传统悲秋基调。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98652"/>
            <a:ext cx="6477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3738"/>
                </a:solidFill>
                <a:latin typeface="Noto Serif SC"/>
              </a:rPr>
              <a:t>精神内核：</a:t>
            </a:r>
            <a:r>
              <a:rPr sz="1650" b="0" i="0" u="none">
                <a:solidFill>
                  <a:srgbClr val="273738"/>
                </a:solidFill>
                <a:latin typeface="Noto Serif SC"/>
              </a:rPr>
              <a:t>激越向上与昂扬奋发。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520380"/>
            <a:ext cx="5181600" cy="12954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1300162"/>
            <a:ext cx="5181600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1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2795587"/>
            <a:ext cx="5181600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1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0" y="4291012"/>
            <a:ext cx="5181600" cy="1266825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1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20380"/>
            <a:ext cx="28575" cy="1295400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737419"/>
            <a:ext cx="6477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A8B8C"/>
                </a:solidFill>
                <a:latin typeface="Noto Serif SC"/>
              </a:rPr>
              <a:t>深度评述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18419"/>
            <a:ext cx="554069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273738"/>
                </a:solidFill>
                <a:latin typeface="Noto Serif SC"/>
              </a:rPr>
              <a:t>锋芒不屈：</a:t>
            </a:r>
            <a:r>
              <a:t>
</a:t>
            </a:r>
            <a:r>
              <a:rPr sz="3600" b="1" i="0" u="none">
                <a:solidFill>
                  <a:srgbClr val="273738"/>
                </a:solidFill>
                <a:latin typeface="Noto Serif SC"/>
              </a:rPr>
              <a:t> 《游玄都观》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825180"/>
            <a:ext cx="46386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73738"/>
                </a:solidFill>
                <a:latin typeface="Noto Serif SC"/>
              </a:rPr>
              <a:t>“玄都观里桃千树，</a:t>
            </a:r>
            <a:r>
              <a:t>
</a:t>
            </a:r>
            <a:r>
              <a:rPr sz="1800" b="0" i="0" u="none">
                <a:solidFill>
                  <a:srgbClr val="273738"/>
                </a:solidFill>
                <a:latin typeface="Noto Serif SC"/>
              </a:rPr>
              <a:t> 尽是刘郎去后栽。”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1614487"/>
            <a:ext cx="5476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5A8B8C"/>
                </a:solidFill>
                <a:latin typeface="Noto Serif SC"/>
              </a:rPr>
              <a:t>创作背景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1995487"/>
            <a:ext cx="54768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748C8C"/>
                </a:solidFill>
                <a:latin typeface="Noto Serif SC"/>
              </a:rPr>
              <a:t>贬谪十年，首度奉召还京。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109912"/>
            <a:ext cx="5476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5A8B8C"/>
                </a:solidFill>
                <a:latin typeface="Noto Serif SC"/>
              </a:rPr>
              <a:t>孤傲心态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490912"/>
            <a:ext cx="54768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748C8C"/>
                </a:solidFill>
                <a:latin typeface="Noto Serif SC"/>
              </a:rPr>
              <a:t>借“桃花”讽刺朝廷政治新贵。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605337"/>
            <a:ext cx="5476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5A8B8C"/>
                </a:solidFill>
                <a:latin typeface="Noto Serif SC"/>
              </a:rPr>
              <a:t>思想锋芒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986337"/>
            <a:ext cx="54768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748C8C"/>
                </a:solidFill>
                <a:latin typeface="Noto Serif SC"/>
              </a:rPr>
              <a:t>绝不妥协的斗争精神与独立人格。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2200275"/>
            <a:ext cx="3996332" cy="3181350"/>
          </a:xfrm>
          <a:prstGeom prst="roundRect">
            <a:avLst>
              <a:gd name="adj" fmla="val 2395"/>
            </a:avLst>
          </a:prstGeom>
          <a:noFill/>
          <a:ln w="9525">
            <a:solidFill>
              <a:srgbClr val="E1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24216" y="2200275"/>
            <a:ext cx="3996332" cy="3181350"/>
          </a:xfrm>
          <a:prstGeom prst="roundRect">
            <a:avLst>
              <a:gd name="adj" fmla="val 2395"/>
            </a:avLst>
          </a:prstGeom>
          <a:noFill/>
          <a:ln w="9525">
            <a:solidFill>
              <a:srgbClr val="E1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17366" y="3505200"/>
            <a:ext cx="3048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69982" y="3505200"/>
            <a:ext cx="3048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532" y="3638550"/>
            <a:ext cx="237083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81000" y="762000"/>
            <a:ext cx="1295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A8B8C"/>
                </a:solidFill>
                <a:latin typeface="Noto Serif SC"/>
              </a:rPr>
              <a:t>哲学主张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1066800"/>
            <a:ext cx="12954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273738"/>
                </a:solidFill>
                <a:latin typeface="Noto Serif SC"/>
              </a:rPr>
              <a:t>天与人交相胜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5838825"/>
            <a:ext cx="12954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73738"/>
                </a:solidFill>
                <a:latin typeface="Noto Serif SC"/>
              </a:rPr>
              <a:t>《天论》：朴素唯物主义思想，坚决反对天命论。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9687" y="2667000"/>
            <a:ext cx="126015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273738"/>
                </a:solidFill>
                <a:latin typeface="Noto Serif SC"/>
              </a:rPr>
              <a:t>“天”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9641" y="3743325"/>
            <a:ext cx="2000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天道自然规律。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3891" y="4200525"/>
            <a:ext cx="2571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客观法则不可违背。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2303" y="2667000"/>
            <a:ext cx="126015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273738"/>
                </a:solidFill>
                <a:latin typeface="Noto Serif SC"/>
              </a:rPr>
              <a:t>“人”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2257" y="3743325"/>
            <a:ext cx="2000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主观能动力量。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6507" y="4200525"/>
            <a:ext cx="2571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人类智慧改造环境。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2466975"/>
            <a:ext cx="38100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77000" y="2466975"/>
            <a:ext cx="3810000" cy="9525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81000" y="762000"/>
            <a:ext cx="12954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273738"/>
                </a:solidFill>
                <a:latin typeface="Noto Serif SC"/>
              </a:rPr>
              <a:t>诗哲交辉：中唐“刘白”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1895475"/>
            <a:ext cx="41005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5A8B8C"/>
                </a:solidFill>
                <a:latin typeface="Noto Serif SC"/>
              </a:rPr>
              <a:t>刘禹锡（诗豪）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27051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风格：</a:t>
            </a:r>
            <a:r>
              <a:rPr sz="1800" b="0" i="0" u="none">
                <a:solidFill>
                  <a:srgbClr val="273738"/>
                </a:solidFill>
                <a:latin typeface="Noto Serif SC"/>
              </a:rPr>
              <a:t>雄健豪放，骨力刚劲。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32385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内容：</a:t>
            </a:r>
            <a:r>
              <a:rPr sz="1800" b="0" i="0" u="none">
                <a:solidFill>
                  <a:srgbClr val="273738"/>
                </a:solidFill>
                <a:latin typeface="Noto Serif SC"/>
              </a:rPr>
              <a:t>咏史怀古，哲理深邃。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7719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3738"/>
                </a:solidFill>
                <a:latin typeface="Noto Serif SC"/>
              </a:rPr>
              <a:t>特质：</a:t>
            </a:r>
            <a:r>
              <a:rPr sz="1800" b="0" i="0" u="none">
                <a:solidFill>
                  <a:srgbClr val="273738"/>
                </a:solidFill>
                <a:latin typeface="Noto Serif SC"/>
              </a:rPr>
              <a:t>极具政治锐角与思想深度。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895475"/>
            <a:ext cx="41005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73738"/>
                </a:solidFill>
                <a:latin typeface="Noto Serif SC"/>
              </a:rPr>
              <a:t>白居易（诗魔）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7051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48C8C"/>
                </a:solidFill>
                <a:latin typeface="Noto Serif SC"/>
              </a:rPr>
              <a:t>风格：</a:t>
            </a:r>
            <a:r>
              <a:rPr sz="1800" b="0" i="0" u="none">
                <a:solidFill>
                  <a:srgbClr val="748C8C"/>
                </a:solidFill>
                <a:latin typeface="Noto Serif SC"/>
              </a:rPr>
              <a:t>平易近人，通俗易懂。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2385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48C8C"/>
                </a:solidFill>
                <a:latin typeface="Noto Serif SC"/>
              </a:rPr>
              <a:t>内容：</a:t>
            </a:r>
            <a:r>
              <a:rPr sz="1800" b="0" i="0" u="none">
                <a:solidFill>
                  <a:srgbClr val="748C8C"/>
                </a:solidFill>
                <a:latin typeface="Noto Serif SC"/>
              </a:rPr>
              <a:t>讽喻现实，关怀民生。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771900"/>
            <a:ext cx="47625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48C8C"/>
                </a:solidFill>
                <a:latin typeface="Noto Serif SC"/>
              </a:rPr>
              <a:t>特质：</a:t>
            </a:r>
            <a:r>
              <a:rPr sz="1800" b="0" i="0" u="none">
                <a:solidFill>
                  <a:srgbClr val="748C8C"/>
                </a:solidFill>
                <a:latin typeface="Noto Serif SC"/>
              </a:rPr>
              <a:t>老妪能解的大众情感共鸣。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71925" y="3690937"/>
            <a:ext cx="9525" cy="762000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20050" y="3690937"/>
            <a:ext cx="9525" cy="762000"/>
          </a:xfrm>
          <a:prstGeom prst="rect">
            <a:avLst/>
          </a:prstGeom>
          <a:solidFill>
            <a:srgbClr val="E1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381000" y="762000"/>
            <a:ext cx="12954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273738"/>
                </a:solidFill>
                <a:latin typeface="Noto Serif SC"/>
              </a:rPr>
              <a:t>深远的历史回响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562350"/>
            <a:ext cx="23812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5A8B8C"/>
                </a:solidFill>
                <a:latin typeface="Noto Serif SC"/>
              </a:rPr>
              <a:t>咏史魁首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324350"/>
            <a:ext cx="2381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73738"/>
                </a:solidFill>
                <a:latin typeface="Noto Serif SC"/>
              </a:rPr>
              <a:t>开启晚唐咏史诗先河。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1062" y="3562350"/>
            <a:ext cx="2619375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273738"/>
                </a:solidFill>
                <a:latin typeface="Noto Serif SC"/>
              </a:rPr>
              <a:t>民歌入诗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1062" y="4324350"/>
            <a:ext cx="26193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48C8C"/>
                </a:solidFill>
                <a:latin typeface="Noto Serif SC"/>
              </a:rPr>
              <a:t>提升巴楚民歌文学地位。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9187" y="3562350"/>
            <a:ext cx="2619375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273738"/>
                </a:solidFill>
                <a:latin typeface="Noto Serif SC"/>
              </a:rPr>
              <a:t>唯物哲思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9187" y="4324350"/>
            <a:ext cx="26193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48C8C"/>
                </a:solidFill>
                <a:latin typeface="Noto Serif SC"/>
              </a:rPr>
              <a:t>丰富古典诗词思想深度。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003327"/>
            <a:ext cx="6096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95675" y="2235547"/>
            <a:ext cx="520065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273738"/>
                </a:solidFill>
                <a:latin typeface="Noto Serif SC"/>
              </a:rPr>
              <a:t>“莫道桑榆晚，</a:t>
            </a:r>
            <a:r>
              <a:t>
</a:t>
            </a:r>
            <a:r>
              <a:rPr sz="4800" b="1" i="0" u="none">
                <a:solidFill>
                  <a:srgbClr val="273738"/>
                </a:solidFill>
                <a:latin typeface="Noto Serif SC"/>
              </a:rPr>
              <a:t> 为霞尚满天。”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0" y="4317652"/>
            <a:ext cx="45720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48C8C"/>
                </a:solidFill>
                <a:latin typeface="Noto Serif SC"/>
              </a:rPr>
              <a:t>晚年豁达不老，生生不息的精神写照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3971925"/>
            <a:ext cx="609600" cy="9525"/>
          </a:xfrm>
          <a:prstGeom prst="rect">
            <a:avLst/>
          </a:prstGeom>
          <a:solidFill>
            <a:srgbClr val="5A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10125" y="2266950"/>
            <a:ext cx="2571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A5BABA"/>
                </a:solidFill>
                <a:latin typeface="Noto Serif SC"/>
              </a:rPr>
              <a:t>斯人已逝，诗魂长存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5775" y="2752725"/>
            <a:ext cx="3600450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Noto Serif SC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8625" y="4286250"/>
            <a:ext cx="3714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5BABA"/>
                </a:solidFill>
                <a:latin typeface="Noto Serif SC"/>
              </a:rPr>
              <a:t>刘禹锡的诗意人生与哲学智慧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246</Words>
  <Application>Microsoft Macintosh PowerPoint</Application>
  <PresentationFormat>宽屏</PresentationFormat>
  <Paragraphs>74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Calibri</vt:lpstr>
      <vt:lpstr>Arial</vt:lpstr>
      <vt:lpstr>Noto Serif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EEE269</cp:lastModifiedBy>
  <cp:revision>2</cp:revision>
  <dcterms:created xsi:type="dcterms:W3CDTF">2013-01-27T09:14:16Z</dcterms:created>
  <dcterms:modified xsi:type="dcterms:W3CDTF">2026-10-17T06:06:34Z</dcterms:modified>
  <cp:category/>
</cp:coreProperties>
</file>